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84FC"/>
                </a:solidFill>
                <a:latin typeface="Helvetica Neue"/>
              </a:rPr>
              <a:t>DEVOPS FINAL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ECEAF2"/>
                </a:solidFill>
                <a:latin typeface="Helvetica Neue"/>
              </a:rPr>
              <a:t>GameSense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A6A1B5"/>
                </a:solidFill>
                <a:latin typeface="Helvetica Neue"/>
              </a:rPr>
              <a:t>A Steam-style game discovery app with a content-based recommender,
shipped through CI/CD, Terraform on AWS EKS, GitOps, and observability.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43400"/>
            <a:ext cx="1097280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CEAF2"/>
                </a:solidFill>
                <a:latin typeface="Helvetica Neue"/>
              </a:rPr>
              <a:t>Nishant Dasgupta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A6A1B5"/>
                </a:solidFill>
                <a:latin typeface="Helvetica Neue"/>
              </a:rPr>
              <a:t>16 October 2026  ·  github.com/NDGCodes/GameSense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84FC"/>
                </a:solidFill>
                <a:latin typeface="Helvetica Neue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CEAF2"/>
                </a:solidFill>
                <a:latin typeface="Helvetica Neue"/>
              </a:rPr>
              <a:t>What I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2296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85216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ECEAF2"/>
                </a:solidFill>
                <a:latin typeface="Helvetica Neue"/>
              </a:rPr>
              <a:t>Game discovery web app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A6A1B5"/>
                </a:solidFill>
                <a:latin typeface="Helvetica Neue"/>
              </a:rPr>
              <a:t>Browse and search a Steam catalog, filter by genre, open a game, and get similar-game recommendations with artwork.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ECEAF2"/>
                </a:solidFill>
                <a:latin typeface="Helvetica Neue"/>
              </a:rPr>
              <a:t>Content-based recommender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A6A1B5"/>
                </a:solidFill>
                <a:latin typeface="Helvetica Neue"/>
              </a:rPr>
              <a:t>TF-IDF over tags, genres, and descriptions, fitted on the Kaggle Steam Store Games dataset (27,075 games locally; a 100-game subset on EKS).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ECEAF2"/>
                </a:solidFill>
                <a:latin typeface="Helvetica Neue"/>
              </a:rPr>
              <a:t>Production-style delivery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A6A1B5"/>
                </a:solidFill>
                <a:latin typeface="Helvetica Neue"/>
              </a:rPr>
              <a:t>Tested, scanned, containerised, and deployed to AWS EKS by GitOps, with Prometheus and Grafana monitoring.</a:t>
            </a:r>
          </a:p>
        </p:txBody>
      </p:sp>
      <p:pic>
        <p:nvPicPr>
          <p:cNvPr id="6" name="Picture 5" descr="M8-eks-app-in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37360"/>
            <a:ext cx="4937760" cy="2947317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675120" y="4757828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A6A1B5"/>
                </a:solidFill>
                <a:latin typeface="Helvetica Neue"/>
              </a:rPr>
              <a:t>Live on EKS through the Traefik load balancer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84FC"/>
                </a:solidFill>
                <a:latin typeface="Helvetica Neue"/>
              </a:rPr>
              <a:t>LANGUAGES, TOOLS,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CEAF2"/>
                </a:solidFill>
                <a:latin typeface="Helvetica Neue"/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2296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20440" cy="2011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084FC"/>
                </a:solidFill>
                <a:latin typeface="Helvetica Neue"/>
              </a:rPr>
              <a:t>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1089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Python 3.11 · FastAPI · SQLAlchemy · Alembic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React 19 · Vite 8 · Nginx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PostgreSQL 16 (pg8000)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83080"/>
            <a:ext cx="3520440" cy="2011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196596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084FC"/>
                </a:solidFill>
                <a:latin typeface="Helvetica Neue"/>
              </a:rPr>
              <a:t>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377440"/>
            <a:ext cx="31089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TF-IDF + tag similarity in pure Python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Kaggle Steam Store Games (2019)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Fitted in a Kaggle notebook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783080"/>
            <a:ext cx="3520440" cy="2011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96596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084FC"/>
                </a:solidFill>
                <a:latin typeface="Helvetica Neue"/>
              </a:rPr>
              <a:t>Quality &amp;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377440"/>
            <a:ext cx="31089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pytest · npm build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Trivy (HIGH/CRITICAL gate)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helm lint · terraform validate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3520440" cy="2011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084FC"/>
                </a:solidFill>
                <a:latin typeface="Helvetica Neue"/>
              </a:rPr>
              <a:t>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31089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Docker · Docker Compose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GitHub Actions · GHCR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Argo CD (GitOps)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4023360"/>
            <a:ext cx="3520440" cy="2011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420624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084FC"/>
                </a:solidFill>
                <a:latin typeface="Helvetica Neue"/>
              </a:rP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4617720"/>
            <a:ext cx="31089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Terraform · AWS VPC · EKS 1.35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Helm · Traefik ingress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kubectl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4023360"/>
            <a:ext cx="3520440" cy="2011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420624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084FC"/>
                </a:solidFill>
                <a:latin typeface="Helvetica Neue"/>
              </a:rPr>
              <a:t>Observability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617720"/>
            <a:ext cx="31089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prometheus_client · Prometheus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Grafana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84FC"/>
                </a:solidFill>
                <a:latin typeface="Helvetica Neue"/>
              </a:rPr>
              <a:t>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CEAF2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2296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Developer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git push 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78308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GitHub Actions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test · build · Trivy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78308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GHCR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images :&lt;sha&gt;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783080"/>
            <a:ext cx="2057400" cy="868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values-eks.yaml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CI bumps image tag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783080"/>
            <a:ext cx="2606040" cy="868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Argo CD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auto-sync · self-heal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57400" y="2217420"/>
            <a:ext cx="365760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43400" y="2217420"/>
            <a:ext cx="365760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309360" y="2217420"/>
            <a:ext cx="365760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32520" y="2217420"/>
            <a:ext cx="365760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3063240"/>
            <a:ext cx="11247120" cy="315468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C084F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84FC"/>
                </a:solidFill>
                <a:latin typeface="Helvetica Neue"/>
              </a:rPr>
              <a:t>AWS ap-south-1  ·  Terraform: VPC (2 public + 2 private subnets, NAT)  →  EKS 1.35  →  managed node group (2 × t3.medium)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96728" y="2651760"/>
            <a:ext cx="0" cy="41148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38862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Users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browser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388620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Traefik Ingress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AWS load balancer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3383280"/>
            <a:ext cx="2194560" cy="868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Frontend ×2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React · Nginx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4480560"/>
            <a:ext cx="2194560" cy="868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Backend ×2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FastAPI · /metrics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4480560"/>
            <a:ext cx="2194560" cy="868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PostgreSQL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Alembic migrations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3383280"/>
            <a:ext cx="2194560" cy="86868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Prometheus → Grafana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pod discovery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43200" y="4343400"/>
            <a:ext cx="365760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303520" y="3813048"/>
            <a:ext cx="457200" cy="393192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03520" y="4480560"/>
            <a:ext cx="457200" cy="429768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55279" y="4910328"/>
            <a:ext cx="548641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955279" y="3813048"/>
            <a:ext cx="548641" cy="850392"/>
          </a:xfrm>
          <a:prstGeom prst="line">
            <a:avLst/>
          </a:prstGeom>
          <a:ln w="25400">
            <a:solidFill>
              <a:srgbClr val="6EE7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583387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6A1B5"/>
                </a:solidFill>
                <a:latin typeface="Helvetica Neue"/>
              </a:rPr>
              <a:t>Namespaces: gamesense · gamesense-ingress · argocd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84FC"/>
                </a:solidFill>
                <a:latin typeface="Helvetica Neue"/>
              </a:rPr>
              <a:t>FRONTEND · BACKEND ·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CEAF2"/>
                </a:solidFill>
                <a:latin typeface="Helvetica Neue"/>
              </a:rPr>
              <a:t>Application  (M1)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2296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4864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CEAF2"/>
                </a:solidFill>
                <a:latin typeface="Helvetica Neue"/>
              </a:rPr>
              <a:t>Frontend: React + Vite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A6A1B5"/>
                </a:solidFill>
                <a:latin typeface="Helvetica Neue"/>
              </a:rPr>
              <a:t>Catalog grid, search, genre filters, detail view with similar games. Served by Nginx, which proxies /api to the backend.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ECEAF2"/>
                </a:solidFill>
                <a:latin typeface="Helvetica Neue"/>
              </a:rPr>
              <a:t>Backend: FastAPI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A6A1B5"/>
                </a:solidFill>
                <a:latin typeface="Helvetica Neue"/>
              </a:rPr>
              <a:t>Health and readiness checks, catalog, recommendations, and a saved-games list persisted in PostgreSQL.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ECEAF2"/>
                </a:solidFill>
                <a:latin typeface="Helvetica Neue"/>
              </a:rPr>
              <a:t>Database: PostgreSQL + Alembic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A6A1B5"/>
                </a:solidFill>
                <a:latin typeface="Helvetica Neue"/>
              </a:rPr>
              <a:t>Three migrations: demo catalog, canonical catalog tables, saved-game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212080" cy="306324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74519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084FC"/>
                </a:solidFill>
                <a:latin typeface="Helvetica Neue"/>
              </a:rPr>
              <a:t>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86000"/>
            <a:ext cx="484632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GET     /health  ·  /ready  ·  /metrics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GET     /api/games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POST    /api/recommendations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GET     /api/saved-games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PUT     /api/saved-games/{slug}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DELETE  /api/saved-games/{slug}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App running locally (M1 · M4)</a:t>
            </a:r>
          </a:p>
        </p:txBody>
      </p:sp>
      <p:pic>
        <p:nvPicPr>
          <p:cNvPr id="4" name="Picture 3" descr="M1-M4-application-localhost-3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226" y="1005840"/>
            <a:ext cx="8605242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React UI at http://localhost:3000 via docker compose, calling the FastAPI backend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84FC"/>
                </a:solidFill>
                <a:latin typeface="Helvetica Neue"/>
              </a:rPr>
              <a:t>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CEAF2"/>
                </a:solidFill>
                <a:latin typeface="Helvetica Neue"/>
              </a:rPr>
              <a:t>Testing, Git &amp; containers  (M2 · M3 · M4)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2296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5778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CEAF2"/>
                </a:solidFill>
                <a:latin typeface="Helvetica Neue"/>
              </a:rPr>
              <a:t>pytest: 59 tests passing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A6A1B5"/>
                </a:solidFill>
                <a:latin typeface="Helvetica Neue"/>
              </a:rPr>
              <a:t>API, Alembic migrations, catalog schemas, recommender, ML data pipeline, and artwork. API tests run against a fresh temporary SQLite database built by the Alembic migrations, never the production database.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ECEAF2"/>
                </a:solidFill>
                <a:latin typeface="Helvetica Neue"/>
              </a:rPr>
              <a:t>Git workflow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A6A1B5"/>
                </a:solidFill>
                <a:latin typeface="Helvetica Neue"/>
              </a:rPr>
              <a:t>Feature branches and pull requests into main, meaningful commits, and a .gitignore covering secrets, state, data, and build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91640"/>
            <a:ext cx="539496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CEAF2"/>
                </a:solidFill>
                <a:latin typeface="Helvetica Neue"/>
              </a:rPr>
              <a:t>Docker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A6A1B5"/>
                </a:solidFill>
                <a:latin typeface="Helvetica Neue"/>
              </a:rPr>
              <a:t>Backend runs as a non-root user (UID 999). Frontend is a multi-stage Node build into an unprivileged Nginx image (UID 101) on port 8080.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ECEAF2"/>
                </a:solidFill>
                <a:latin typeface="Helvetica Neue"/>
              </a:rPr>
              <a:t>Docker Compose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A6A1B5"/>
                </a:solidFill>
                <a:latin typeface="Helvetica Neue"/>
              </a:rPr>
              <a:t>PostgreSQL, backend, frontend, Prometheus, and Grafana, with health checks and a named database volume. App on :3000, Grafana on :3001.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pytest: all tests pass (M2)  (1/2)</a:t>
            </a:r>
          </a:p>
        </p:txBody>
      </p:sp>
      <p:pic>
        <p:nvPicPr>
          <p:cNvPr id="4" name="Picture 3" descr="M2-pytest-api-command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06" y="1005840"/>
            <a:ext cx="10263081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pytest -v: API, migration, and catalog tests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pytest: all tests pass (M2)  (2/2)</a:t>
            </a:r>
          </a:p>
        </p:txBody>
      </p:sp>
      <p:pic>
        <p:nvPicPr>
          <p:cNvPr id="4" name="Picture 3" descr="M2-pytest-result-command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857" y="1005840"/>
            <a:ext cx="9107979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Suite result: 59 passed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Commit history (M3)</a:t>
            </a:r>
          </a:p>
        </p:txBody>
      </p:sp>
      <p:pic>
        <p:nvPicPr>
          <p:cNvPr id="4" name="Picture 3" descr="M3-git-history-command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857" y="1005840"/>
            <a:ext cx="9107979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Meaningful commit messages on main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docker compose up --build (M4)  (1/2)</a:t>
            </a:r>
          </a:p>
        </p:txBody>
      </p:sp>
      <p:pic>
        <p:nvPicPr>
          <p:cNvPr id="4" name="Picture 3" descr="M4-compose-command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857" y="1005840"/>
            <a:ext cx="9107979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All services start and report healthy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docker compose up --build (M4)  (2/2)</a:t>
            </a:r>
          </a:p>
        </p:txBody>
      </p:sp>
      <p:pic>
        <p:nvPicPr>
          <p:cNvPr id="4" name="Picture 3" descr="M4-runtime-command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857" y="1005840"/>
            <a:ext cx="9107979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Containers run as non-root (backend UID 999, frontend UID 101)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84FC"/>
                </a:solidFill>
                <a:latin typeface="Helvetica Neue"/>
              </a:rPr>
              <a:t>GITHUB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CEAF2"/>
                </a:solidFill>
                <a:latin typeface="Helvetica Neue"/>
              </a:rPr>
              <a:t>CI/CD pipeline  (M5 · M6)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2296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validate-foundation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pytest · npm build
helm lint · terraform validate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63240" y="2537460"/>
            <a:ext cx="365760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29000" y="192024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container-security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docker build ×2
Trivy: fail on HIGH/CRITICAL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2537460"/>
            <a:ext cx="365760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60" y="192024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publish-images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push to GHCR
tag = commit SHA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23960" y="2537460"/>
            <a:ext cx="365760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89720" y="192024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>update-gitops</a:t>
            </a:r>
          </a:p>
          <a:p>
            <a:pPr algn="ctr"/>
            <a:r>
              <a:rPr sz="1100">
                <a:solidFill>
                  <a:srgbClr val="A6A1B5"/>
                </a:solidFill>
                <a:latin typeface="Helvetica Neue"/>
              </a:rPr>
              <a:t>commit SHA to
values-eks.yaml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1115568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CEAF2"/>
                </a:solidFill>
                <a:latin typeface="Helvetica Neue"/>
              </a:rPr>
              <a:t>•  Runs on every push and pull request. Images are published and deployed only from main.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CEAF2"/>
                </a:solidFill>
                <a:latin typeface="Helvetica Neue"/>
              </a:rPr>
              <a:t>•  Trivy scans both images for OS and library CVEs; any fixable HIGH or CRITICAL finding fails the build before anything is pushed.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CEAF2"/>
                </a:solidFill>
                <a:latin typeface="Helvetica Neue"/>
              </a:rPr>
              <a:t>•  The final job commits the new tag to Git as github-actions[bot]. Argo CD sees that commit and deploys it, so no deployment is run by hand.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GitHub Actions: green pipeline (M5)</a:t>
            </a:r>
          </a:p>
        </p:txBody>
      </p:sp>
      <p:pic>
        <p:nvPicPr>
          <p:cNvPr id="4" name="Picture 3" descr="M5-github-actions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226" y="1005840"/>
            <a:ext cx="8605242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Push to main: validate → container-security → publish-images, all green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GHCR images tagged with the commit SHA (M5)  (1/2)</a:t>
            </a:r>
          </a:p>
        </p:txBody>
      </p:sp>
      <p:pic>
        <p:nvPicPr>
          <p:cNvPr id="4" name="Picture 3" descr="M5-ghcr-backend-s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226" y="1005840"/>
            <a:ext cx="8605242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ghcr.io/ndgcodes/gamesense-backend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GHCR images tagged with the commit SHA (M5)  (2/2)</a:t>
            </a:r>
          </a:p>
        </p:txBody>
      </p:sp>
      <p:pic>
        <p:nvPicPr>
          <p:cNvPr id="4" name="Picture 3" descr="M5-ghcr-frontend-s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226" y="1005840"/>
            <a:ext cx="8605242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ghcr.io/ndgcodes/gamesense-frontend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Trivy scan in CI (M6)</a:t>
            </a:r>
          </a:p>
        </p:txBody>
      </p:sp>
      <p:pic>
        <p:nvPicPr>
          <p:cNvPr id="4" name="Picture 3" descr="M6-trivy-bac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226" y="1005840"/>
            <a:ext cx="8605242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Backend image: 0 HIGH/CRITICAL vulnerabilities (gate passes; the build fails if any are found)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84FC"/>
                </a:solidFill>
                <a:latin typeface="Helvetica Neue"/>
              </a:rPr>
              <a:t>TERRAFORM ON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CEAF2"/>
                </a:solidFill>
                <a:latin typeface="Helvetica Neue"/>
              </a:rPr>
              <a:t>Infrastructure as code  (M7)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2296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7607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ECEAF2"/>
                </a:solidFill>
                <a:latin typeface="Helvetica Neue"/>
              </a:rPr>
              <a:t>Network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A6A1B5"/>
                </a:solidFill>
                <a:latin typeface="Helvetica Neue"/>
              </a:rPr>
              <a:t>VPC 10.42.0.0/16 across two AZs in ap-south-1 (Mumbai): 2 public and 2 private subnets, one NAT gateway, and the subnet tags EKS uses for load balancers.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CEAF2"/>
                </a:solidFill>
                <a:latin typeface="Helvetica Neue"/>
              </a:rPr>
              <a:t>Cluster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A6A1B5"/>
                </a:solidFill>
                <a:latin typeface="Helvetica Neue"/>
              </a:rPr>
              <a:t>EKS 1.35 with a managed node group of 2 × t3.medium (AL2023). The cluster creator gets admin access.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CEAF2"/>
                </a:solidFill>
                <a:latin typeface="Helvetica Neue"/>
              </a:rPr>
              <a:t>Safety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A6A1B5"/>
                </a:solidFill>
                <a:latin typeface="Helvetica Neue"/>
              </a:rPr>
              <a:t>allowed_account_ids guards against the wrong account. State and plans stay out of Git. Optional ECR repos are force-deleted on destroy.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783080"/>
            <a:ext cx="5029200" cy="3566160"/>
          </a:xfrm>
          <a:prstGeom prst="roundRect">
            <a:avLst>
              <a:gd name="adj" fmla="val 12000"/>
            </a:avLst>
          </a:prstGeom>
          <a:solidFill>
            <a:srgbClr val="1C1A24"/>
          </a:solidFill>
          <a:ln w="15875">
            <a:solidFill>
              <a:srgbClr val="3A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CEAF2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084FC"/>
                </a:solidFill>
                <a:latin typeface="Helvetica Neue"/>
              </a:rPr>
              <a:t>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331720"/>
            <a:ext cx="457200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terraform init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terraform fmt -check · validate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terraform plan -out=&lt;saved plan&gt;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terraform apply &lt;saved plan&gt;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ECEAF2"/>
                </a:solidFill>
                <a:latin typeface="Helvetica Neue"/>
              </a:rPr>
              <a:t>terraform destroy  (after the demo)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terraform plan (M7)</a:t>
            </a:r>
          </a:p>
        </p:txBody>
      </p:sp>
      <p:pic>
        <p:nvPicPr>
          <p:cNvPr id="4" name="Picture 3" descr="M7-terraform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06" y="1005840"/>
            <a:ext cx="10263081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Plan: 58 to add, 0 to change, 0 to destroy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terraform apply (M7)</a:t>
            </a:r>
          </a:p>
        </p:txBody>
      </p:sp>
      <p:pic>
        <p:nvPicPr>
          <p:cNvPr id="4" name="Picture 3" descr="M7-terraform-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50" y="1005840"/>
            <a:ext cx="10808994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VPC, 2 public subnets, NAT, EKS cluster, and node group created: 58 resources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AWS Console: EKS + VPC in ap-south-1 (M7)  (1/2)</a:t>
            </a:r>
          </a:p>
        </p:txBody>
      </p:sp>
      <p:pic>
        <p:nvPicPr>
          <p:cNvPr id="4" name="Picture 3" descr="M7-aws-console-eks-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41" y="1005840"/>
            <a:ext cx="9799612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EKS cluster gamesense-capstone: Active, Kubernetes 1.35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AWS Console: EKS + VPC in ap-south-1 (M7)  (2/2)</a:t>
            </a:r>
          </a:p>
        </p:txBody>
      </p:sp>
      <p:pic>
        <p:nvPicPr>
          <p:cNvPr id="4" name="Picture 3" descr="M7-aws-console-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1005840"/>
            <a:ext cx="11274552" cy="4285006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5345709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gamesense-capstone-vpc: Available, 10.42.0.0/16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84FC"/>
                </a:solidFill>
                <a:latin typeface="Helvetica Neue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CEAF2"/>
                </a:solidFill>
                <a:latin typeface="Helvetica Neue"/>
              </a:rPr>
              <a:t>Kubernetes, Helm &amp; GitOps  (M8)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2296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66928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ECEAF2"/>
                </a:solidFill>
                <a:latin typeface="Helvetica Neue"/>
              </a:rPr>
              <a:t>Helm chart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A6A1B5"/>
                </a:solidFill>
                <a:latin typeface="Helvetica Neue"/>
              </a:rPr>
              <a:t>Frontend and backend Deployments with 2 replicas each, readiness and liveness probes, ClusterIP Services, and one Ingress (/ → frontend, /api → backend).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CEAF2"/>
                </a:solidFill>
                <a:latin typeface="Helvetica Neue"/>
              </a:rPr>
              <a:t>Ingress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A6A1B5"/>
                </a:solidFill>
                <a:latin typeface="Helvetica Neue"/>
              </a:rPr>
              <a:t>Traefik publishes the Ingress through an AWS load balancer, so no DNS purchase is needed for the demo.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CEAF2"/>
                </a:solidFill>
                <a:latin typeface="Helvetica Neue"/>
              </a:rPr>
              <a:t>Secrets &amp; data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A6A1B5"/>
                </a:solidFill>
                <a:latin typeface="Helvetica Neue"/>
              </a:rPr>
              <a:t>Database URL and passwords live in Kubernetes Secrets created outside Git. The catalog bundle is mounted from a ConfigMap.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91640"/>
            <a:ext cx="53035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ECEAF2"/>
                </a:solidFill>
                <a:latin typeface="Helvetica Neue"/>
              </a:rPr>
              <a:t>Argo CD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A6A1B5"/>
                </a:solidFill>
                <a:latin typeface="Helvetica Neue"/>
              </a:rPr>
              <a:t>Watches main and renders helm/ with values-eks.yaml layered on top. Auto-sync, prune, and self-heal are 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CEAF2"/>
                </a:solidFill>
                <a:latin typeface="Helvetica Neue"/>
              </a:rPr>
              <a:t>Push to deploy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A6A1B5"/>
                </a:solidFill>
                <a:latin typeface="Helvetica Neue"/>
              </a:rPr>
              <a:t>A push to main makes CI publish images and commit the new tag; Argo CD syncs and rolls the pods. No kubectl or helm is run by hand.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CEAF2"/>
                </a:solidFill>
                <a:latin typeface="Helvetica Neue"/>
              </a:rPr>
              <a:t>One owner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A6A1B5"/>
                </a:solidFill>
                <a:latin typeface="Helvetica Neue"/>
              </a:rPr>
              <a:t>Helm installed the release once. Argo CD now owns ongoing changes, so two controllers never fight over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kubectl get pods (M8)</a:t>
            </a:r>
          </a:p>
        </p:txBody>
      </p:sp>
      <p:pic>
        <p:nvPicPr>
          <p:cNvPr id="4" name="Picture 3" descr="M8-eks-p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1005840"/>
            <a:ext cx="11274552" cy="3371091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4431795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All pods Running: 2 backend and 2 frontend replicas, plus PostgreSQL, Prometheus, and Grafana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kubectl get svc (M8)</a:t>
            </a:r>
          </a:p>
        </p:txBody>
      </p:sp>
      <p:pic>
        <p:nvPicPr>
          <p:cNvPr id="4" name="Picture 3" descr="M8-eks-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1005840"/>
            <a:ext cx="11274552" cy="3017426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4078130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ClusterIP Services for the app, and the Traefik LoadBalancer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helm list + Ingress (M8)</a:t>
            </a:r>
          </a:p>
        </p:txBody>
      </p:sp>
      <p:pic>
        <p:nvPicPr>
          <p:cNvPr id="4" name="Picture 3" descr="M8-eks-he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1005840"/>
            <a:ext cx="11274552" cy="3017426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4078130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Helm releases deployed; the Ingress routes / and /api through the load balancer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App live through the Ingress (M8)</a:t>
            </a:r>
          </a:p>
        </p:txBody>
      </p:sp>
      <p:pic>
        <p:nvPicPr>
          <p:cNvPr id="4" name="Picture 3" descr="M8-eks-app-in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649" y="1005840"/>
            <a:ext cx="9038396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GameSense on EKS at the AWS load balancer hostname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Argo CD: synced and healthy (GitOps)</a:t>
            </a:r>
          </a:p>
        </p:txBody>
      </p:sp>
      <p:pic>
        <p:nvPicPr>
          <p:cNvPr id="4" name="Picture 3" descr="M8-argocd-sy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975" y="1005840"/>
            <a:ext cx="9803744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Tracks main; auto-sync and self-heal on; full resource tree healthy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84FC"/>
                </a:solidFill>
                <a:latin typeface="Helvetica Neue"/>
              </a:rPr>
              <a:t>PROMETHEUS · GRAFANA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CEAF2"/>
                </a:solidFill>
                <a:latin typeface="Helvetica Neue"/>
              </a:rPr>
              <a:t>Observability  (M9)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2296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1206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ECEAF2"/>
                </a:solidFill>
                <a:latin typeface="Helvetica Neue"/>
              </a:rPr>
              <a:t>Instrumented API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A6A1B5"/>
                </a:solidFill>
                <a:latin typeface="Helvetica Neue"/>
              </a:rPr>
              <a:t>/metrics exposes request counts, latency histograms, and recommender metrics labelled by mode, algorithm, version, and data snapshot.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CEAF2"/>
                </a:solidFill>
                <a:latin typeface="Helvetica Neue"/>
              </a:rPr>
              <a:t>Prometheus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A6A1B5"/>
                </a:solidFill>
                <a:latin typeface="Helvetica Neue"/>
              </a:rPr>
              <a:t>Discovers backend pods by annotation, scoped to the app namespace. Both replicas show as UP.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CEAF2"/>
                </a:solidFill>
                <a:latin typeface="Helvetica Neue"/>
              </a:rPr>
              <a:t>Grafana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A6A1B5"/>
                </a:solidFill>
                <a:latin typeface="Helvetica Neue"/>
              </a:rPr>
              <a:t>Provisioned datasource and dashboard: requests, catalog size, fallbacks, p95 latency, and HTTP rate by route.</a:t>
            </a:r>
          </a:p>
        </p:txBody>
      </p:sp>
      <p:pic>
        <p:nvPicPr>
          <p:cNvPr id="6" name="Picture 5" descr="M9-eks-graf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83080"/>
            <a:ext cx="5760720" cy="340871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0" y="5264942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A6A1B5"/>
                </a:solidFill>
                <a:latin typeface="Helvetica Neue"/>
              </a:rPr>
              <a:t>Grafana on EKS: 715 recommendation requests, 100-game catalog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Backend /metrics (M9)</a:t>
            </a:r>
          </a:p>
        </p:txBody>
      </p:sp>
      <p:pic>
        <p:nvPicPr>
          <p:cNvPr id="4" name="Picture 3" descr="M9-eks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09" y="1005840"/>
            <a:ext cx="10369675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Prometheus-format metrics from a backend pod on EKS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Prometheus targets UP (M9)</a:t>
            </a:r>
          </a:p>
        </p:txBody>
      </p:sp>
      <p:pic>
        <p:nvPicPr>
          <p:cNvPr id="4" name="Picture 3" descr="M9-eks-prometheus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1005840"/>
            <a:ext cx="11274552" cy="509523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15593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gamesense-backend-kubernetes: 2/2 targets UP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084FC"/>
                </a:solidFill>
                <a:latin typeface="Helvetica Neue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CEAF2"/>
                </a:solidFill>
                <a:latin typeface="Helvetica Neue"/>
              </a:rPr>
              <a:t>Grafana dashboard (M9)</a:t>
            </a:r>
          </a:p>
        </p:txBody>
      </p:sp>
      <p:pic>
        <p:nvPicPr>
          <p:cNvPr id="4" name="Picture 3" descr="M9-eks-graf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106" y="1005840"/>
            <a:ext cx="9117482" cy="5394960"/>
          </a:xfrm>
          <a:prstGeom prst="rect">
            <a:avLst/>
          </a:prstGeom>
          <a:ln>
            <a:solidFill>
              <a:srgbClr val="3A364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Live recommendation requests, catalog size, latency, and HTTP rate by route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84FC"/>
                </a:solidFill>
                <a:latin typeface="Helvetica Neue"/>
              </a:rPr>
              <a:t>WHY IT IS BUILT THIS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CEAF2"/>
                </a:solidFill>
                <a:latin typeface="Helvetica Neue"/>
              </a:rPr>
              <a:t>Design decisions &amp;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2296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57784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CEAF2"/>
                </a:solidFill>
                <a:latin typeface="Helvetica Neue"/>
              </a:rPr>
              <a:t>Traefik instead of the AWS ALB controller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Fewer IAM moving parts for a short-lived demo. The chart still supports ALB via ingress.className.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CEAF2"/>
                </a:solidFill>
                <a:latin typeface="Helvetica Neue"/>
              </a:rPr>
              <a:t>Disposable PostgreSQL (emptyDir)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Good enough for a demo; production would use RDS or a persistent volume.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CEAF2"/>
                </a:solidFill>
                <a:latin typeface="Helvetica Neue"/>
              </a:rPr>
              <a:t>GitOps image tags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CI writes the deployed tag to Git, so every deployment is a reviewable commit.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91640"/>
            <a:ext cx="53949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CEAF2"/>
                </a:solidFill>
                <a:latin typeface="Helvetica Neue"/>
              </a:rPr>
              <a:t>Data licensing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Raw Kaggle data and model bundles are never committed. The cloud demo serves only a 100-game subset.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CEAF2"/>
                </a:solidFill>
                <a:latin typeface="Helvetica Neue"/>
              </a:rPr>
              <a:t>Secrets out of Git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Tokens and passwords live in Kubernetes Secrets. Trivy secret scan and history checks are clean.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CEAF2"/>
                </a:solidFill>
                <a:latin typeface="Helvetica Neue"/>
              </a:rPr>
              <a:t>Cost control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Short-lived cluster, one NAT gateway, two small nodes, and terraform destroy straight after the demo.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84FC"/>
                </a:solidFill>
                <a:latin typeface="Helvetica Neue"/>
              </a:rPr>
              <a:t>WHAT I WOULD KEEP AND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CEAF2"/>
                </a:solidFill>
                <a:latin typeface="Helvetica Neue"/>
              </a:rPr>
              <a:t>Key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2296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57784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CEAF2"/>
                </a:solidFill>
                <a:latin typeface="Helvetica Neue"/>
              </a:rPr>
              <a:t>Small configuration details break deployments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The Ingress returned 404 until its class matched the name Traefik actually registered. Check the cluster's real resource names, not the defaults.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CEAF2"/>
                </a:solidFill>
                <a:latin typeface="Helvetica Neue"/>
              </a:rPr>
              <a:t>GitOps needs one source of truth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Deployed image tags had to move into Git, written by CI, before Argo CD could be the only deployer.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CEAF2"/>
                </a:solidFill>
                <a:latin typeface="Helvetica Neue"/>
              </a:rPr>
              <a:t>Helm merges maps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An empty annotations map does not remove a default annotation; it takes an explicit null.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91640"/>
            <a:ext cx="53949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CEAF2"/>
                </a:solidFill>
                <a:latin typeface="Helvetica Neue"/>
              </a:rPr>
              <a:t>Security gates belong before publish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Trivy runs before anything reaches GHCR, so a vulnerable image never becomes deployable.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CEAF2"/>
                </a:solidFill>
                <a:latin typeface="Helvetica Neue"/>
              </a:rPr>
              <a:t>Data has licences too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The dataset's terms shaped what could be committed or shipped to the cloud.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CEAF2"/>
                </a:solidFill>
                <a:latin typeface="Helvetica Neue"/>
              </a:rPr>
              <a:t>Next steps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A6A1B5"/>
                </a:solidFill>
                <a:latin typeface="Helvetica Neue"/>
              </a:rPr>
              <a:t>TLS and DNS, RDS instead of emptyDir, an ALB controller with IRSA, and alerting rules in Prometheus.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84FC"/>
                </a:solidFill>
                <a:latin typeface="Helvetica Neue"/>
              </a:rPr>
              <a:t>WHAT THE DEMO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CEAF2"/>
                </a:solidFill>
                <a:latin typeface="Helvetica Neue"/>
              </a:rPr>
              <a:t>Live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2296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438912" cy="438912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E0D12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55648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ECEAF2"/>
                </a:solidFill>
                <a:latin typeface="Helvetica Neue"/>
              </a:rPr>
              <a:t>Codebase tour: folder structure and key files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9152"/>
            <a:ext cx="438912" cy="438912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E0D12"/>
                </a:solidFill>
                <a:latin typeface="Helvetica Neue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ECEAF2"/>
                </a:solidFill>
                <a:latin typeface="Helvetica Neue"/>
              </a:rPr>
              <a:t>Push a visible change → GitHub Actions runs end-to-end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980944"/>
            <a:ext cx="438912" cy="438912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E0D12"/>
                </a:solidFill>
                <a:latin typeface="Helvetica Neue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99232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ECEAF2"/>
                </a:solidFill>
                <a:latin typeface="Helvetica Neue"/>
              </a:rPr>
              <a:t>Terraform plan / apply output + AWS Console (VPC, EKS)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02736"/>
            <a:ext cx="438912" cy="438912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E0D12"/>
                </a:solidFill>
                <a:latin typeface="Helvetica Neue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21024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ECEAF2"/>
                </a:solidFill>
                <a:latin typeface="Helvetica Neue"/>
              </a:rPr>
              <a:t>Argo CD picks up the tag commit and syncs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24528"/>
            <a:ext cx="438912" cy="438912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E0D12"/>
                </a:solidFill>
                <a:latin typeface="Helvetica Neue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242816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ECEAF2"/>
                </a:solidFill>
                <a:latin typeface="Helvetica Neue"/>
              </a:rPr>
              <a:t>kubectl get pods, svc, ingress in the cluster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846320"/>
            <a:ext cx="438912" cy="438912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E0D12"/>
                </a:solidFill>
                <a:latin typeface="Helvetica Neue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864608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ECEAF2"/>
                </a:solidFill>
                <a:latin typeface="Helvetica Neue"/>
              </a:rPr>
              <a:t>The updated app live through the load balancer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468112"/>
            <a:ext cx="438912" cy="438912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E0D12"/>
                </a:solidFill>
                <a:latin typeface="Helvetica Neue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4864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ECEAF2"/>
                </a:solidFill>
                <a:latin typeface="Helvetica Neue"/>
              </a:rPr>
              <a:t>Prometheus Targets UP  ·  Grafana live dashboard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ECEAF2"/>
                </a:solidFill>
                <a:latin typeface="Helvetica Neue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084FC"/>
                </a:solidFill>
                <a:latin typeface="Helvetica Neue"/>
              </a:rPr>
              <a:t>github.com/NDGCodes/GameSense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A6A1B5"/>
                </a:solidFill>
                <a:latin typeface="Helvetica Neue"/>
              </a:rPr>
              <a:t>Rubric evidence: screenshots and logs submitted with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